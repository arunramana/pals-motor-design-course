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y="5143500" cx="9144000"/>
  <p:notesSz cx="6858000" cy="9144000"/>
  <p:embeddedFontLst>
    <p:embeddedFont>
      <p:font typeface="Oswald"/>
      <p:regular r:id="rId36"/>
      <p:bold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Oswald-bold.fntdata"/><Relationship Id="rId14" Type="http://schemas.openxmlformats.org/officeDocument/2006/relationships/slide" Target="slides/slide9.xml"/><Relationship Id="rId36" Type="http://schemas.openxmlformats.org/officeDocument/2006/relationships/font" Target="fonts/Oswald-regular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5d659ce2f5_0_5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5d659ce2f5_0_5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5d659ce2f5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5d659ce2f5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5d659ce2f5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5d659ce2f5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5d659ce2f5_0_4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5d659ce2f5_0_4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5d659ce2f5_0_5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25d659ce2f5_0_5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39d5739ea3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39d5739ea3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5d659ce2f5_0_5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25d659ce2f5_0_5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5d659ce2f5_0_6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25d659ce2f5_0_6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5d659ce2f5_0_6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25d659ce2f5_0_6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5d659ce2f5_0_6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25d659ce2f5_0_6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5d659ce2f5_0_6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5d659ce2f5_0_6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5d659ce2f5_0_6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25d659ce2f5_0_6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5d659ce2f5_0_6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25d659ce2f5_0_6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5d659ce2f5_0_6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25d659ce2f5_0_6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25d659ce2f5_0_7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25d659ce2f5_0_7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25d659ce2f5_0_7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25d659ce2f5_0_7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5d659ce2f5_0_7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5d659ce2f5_0_7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25d7b38048b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25d7b38048b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5d7b38048b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25d7b38048b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5d7b38048b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25d7b38048b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25d7b38048b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25d7b38048b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25d7b38048b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25d7b38048b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25d7b38048b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25d7b38048b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5d7b38048b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25d7b38048b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25d7b38048b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25d7b38048b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25d7b38048b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25d7b38048b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25d7b38048b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25d7b38048b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25d7b38048b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25d7b38048b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239d5739ea3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239d5739ea3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Relationship Id="rId4" Type="http://schemas.openxmlformats.org/officeDocument/2006/relationships/image" Target="../media/image2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3.png"/><Relationship Id="rId4" Type="http://schemas.openxmlformats.org/officeDocument/2006/relationships/image" Target="../media/image2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6.png"/><Relationship Id="rId4" Type="http://schemas.openxmlformats.org/officeDocument/2006/relationships/image" Target="../media/image2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5519000" y="0"/>
            <a:ext cx="3624900" cy="514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700">
                <a:latin typeface="Oswald"/>
                <a:ea typeface="Oswald"/>
                <a:cs typeface="Oswald"/>
                <a:sym typeface="Oswald"/>
              </a:rPr>
              <a:t>MOTOR</a:t>
            </a:r>
            <a:endParaRPr sz="4700"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700">
                <a:latin typeface="Oswald"/>
                <a:ea typeface="Oswald"/>
                <a:cs typeface="Oswald"/>
                <a:sym typeface="Oswald"/>
              </a:rPr>
              <a:t>DESIGN</a:t>
            </a:r>
            <a:endParaRPr sz="4700"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By</a:t>
            </a:r>
            <a:endParaRPr sz="2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Arun Ramana</a:t>
            </a:r>
            <a:endParaRPr sz="2600"/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544401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289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swald"/>
                <a:ea typeface="Oswald"/>
                <a:cs typeface="Oswald"/>
                <a:sym typeface="Oswald"/>
              </a:rPr>
              <a:t>What are we going to learn today?</a:t>
            </a:r>
            <a:endParaRPr b="1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-357823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b="1" lang="en" sz="2200">
                <a:solidFill>
                  <a:schemeClr val="dk1"/>
                </a:solidFill>
              </a:rPr>
              <a:t>How to design and draw a motor from the geometry specified by Motor Wiz?</a:t>
            </a:r>
            <a:endParaRPr b="1" sz="2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dk1"/>
              </a:solidFill>
            </a:endParaRPr>
          </a:p>
          <a:p>
            <a:pPr indent="-357823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b="1" lang="en" sz="2200">
                <a:solidFill>
                  <a:schemeClr val="dk1"/>
                </a:solidFill>
              </a:rPr>
              <a:t>How to simulate the design we have drawn?</a:t>
            </a:r>
            <a:endParaRPr b="1" sz="2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dk1"/>
              </a:solidFill>
            </a:endParaRPr>
          </a:p>
          <a:p>
            <a:pPr indent="-357823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b="1" lang="en" sz="2200">
                <a:solidFill>
                  <a:schemeClr val="dk1"/>
                </a:solidFill>
              </a:rPr>
              <a:t>Demonstration Of the Motor Design Tool developed at MOTORZ.</a:t>
            </a:r>
            <a:endParaRPr b="1"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swald"/>
                <a:ea typeface="Oswald"/>
                <a:cs typeface="Oswald"/>
                <a:sym typeface="Oswald"/>
              </a:rPr>
              <a:t>Familiarize</a:t>
            </a:r>
            <a:r>
              <a:rPr b="1" lang="en">
                <a:latin typeface="Oswald"/>
                <a:ea typeface="Oswald"/>
                <a:cs typeface="Oswald"/>
                <a:sym typeface="Oswald"/>
              </a:rPr>
              <a:t> With Tools</a:t>
            </a:r>
            <a:endParaRPr b="1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8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arenR"/>
            </a:pPr>
            <a:r>
              <a:rPr b="1" lang="en">
                <a:solidFill>
                  <a:schemeClr val="dk1"/>
                </a:solidFill>
              </a:rPr>
              <a:t>FEMM - </a:t>
            </a:r>
            <a:r>
              <a:rPr b="1" lang="en">
                <a:solidFill>
                  <a:schemeClr val="dk1"/>
                </a:solidFill>
              </a:rPr>
              <a:t>Finite Element Method Magnetics</a:t>
            </a:r>
            <a:r>
              <a:rPr b="1" lang="en" u="sng">
                <a:solidFill>
                  <a:schemeClr val="dk1"/>
                </a:solidFill>
              </a:rPr>
              <a:t>:</a:t>
            </a:r>
            <a:endParaRPr b="1" u="sng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</a:t>
            </a:r>
            <a:r>
              <a:rPr lang="en">
                <a:solidFill>
                  <a:schemeClr val="dk1"/>
                </a:solidFill>
              </a:rPr>
              <a:t>s a powerful software tool used for simulating and analyzing electromagnetic fields and devices. (It can also be used to simulate Electrostatics and Current Flow)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arenR"/>
            </a:pPr>
            <a:r>
              <a:rPr b="1" lang="en">
                <a:solidFill>
                  <a:schemeClr val="dk1"/>
                </a:solidFill>
              </a:rPr>
              <a:t>CAD &amp; DXF:</a:t>
            </a:r>
            <a:endParaRPr b="1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CAD (Computer-Aided Design)</a:t>
            </a:r>
            <a:r>
              <a:rPr lang="en">
                <a:solidFill>
                  <a:schemeClr val="dk1"/>
                </a:solidFill>
              </a:rPr>
              <a:t> is a technology that allows engineers and </a:t>
            </a:r>
            <a:r>
              <a:rPr lang="en">
                <a:solidFill>
                  <a:schemeClr val="dk1"/>
                </a:solidFill>
              </a:rPr>
              <a:t>designers to create detailed digital models of objects and systems. 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DXF (Drawing Exchange Format)</a:t>
            </a:r>
            <a:r>
              <a:rPr lang="en">
                <a:solidFill>
                  <a:schemeClr val="dk1"/>
                </a:solidFill>
              </a:rPr>
              <a:t> is a file format commonly used in CAD software to facilitate the exchange design data between different programs and platforms.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464100" y="22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swald"/>
                <a:ea typeface="Oswald"/>
                <a:cs typeface="Oswald"/>
                <a:sym typeface="Oswald"/>
              </a:rPr>
              <a:t>Familiarize With Terminology:</a:t>
            </a:r>
            <a:endParaRPr b="1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198350" y="729725"/>
            <a:ext cx="8520600" cy="424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74"/>
          </a:p>
          <a:p>
            <a:pPr indent="-332456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b="1" lang="en" sz="2974">
                <a:solidFill>
                  <a:schemeClr val="dk1"/>
                </a:solidFill>
              </a:rPr>
              <a:t>Rotor:</a:t>
            </a:r>
            <a:r>
              <a:rPr lang="en" sz="2974">
                <a:solidFill>
                  <a:schemeClr val="dk1"/>
                </a:solidFill>
              </a:rPr>
              <a:t> The rotating part of the motor that contains the magnets or windings.</a:t>
            </a:r>
            <a:endParaRPr sz="2974">
              <a:solidFill>
                <a:schemeClr val="dk1"/>
              </a:solidFill>
            </a:endParaRPr>
          </a:p>
          <a:p>
            <a:pPr indent="-332456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b="1" lang="en" sz="2974">
                <a:solidFill>
                  <a:schemeClr val="dk1"/>
                </a:solidFill>
              </a:rPr>
              <a:t>Stator: </a:t>
            </a:r>
            <a:r>
              <a:rPr lang="en" sz="2974">
                <a:solidFill>
                  <a:schemeClr val="dk1"/>
                </a:solidFill>
              </a:rPr>
              <a:t>The stationary part of the motor that houses the windings to create the magnetic field.</a:t>
            </a:r>
            <a:endParaRPr sz="2974">
              <a:solidFill>
                <a:schemeClr val="dk1"/>
              </a:solidFill>
            </a:endParaRPr>
          </a:p>
          <a:p>
            <a:pPr indent="-332456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b="1" lang="en" sz="2974">
                <a:solidFill>
                  <a:schemeClr val="dk1"/>
                </a:solidFill>
              </a:rPr>
              <a:t>Air gap:</a:t>
            </a:r>
            <a:r>
              <a:rPr lang="en" sz="2974">
                <a:solidFill>
                  <a:schemeClr val="dk1"/>
                </a:solidFill>
              </a:rPr>
              <a:t> The space between the rotor and stator where the magnetic interaction occurs.</a:t>
            </a:r>
            <a:endParaRPr sz="2974">
              <a:solidFill>
                <a:schemeClr val="dk1"/>
              </a:solidFill>
            </a:endParaRPr>
          </a:p>
          <a:p>
            <a:pPr indent="-332456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b="1" lang="en" sz="2974">
                <a:solidFill>
                  <a:schemeClr val="dk1"/>
                </a:solidFill>
              </a:rPr>
              <a:t>Shaft:</a:t>
            </a:r>
            <a:r>
              <a:rPr lang="en" sz="2974">
                <a:solidFill>
                  <a:schemeClr val="dk1"/>
                </a:solidFill>
              </a:rPr>
              <a:t> The central axis that connects and supports the rotor and enables rotational movement.</a:t>
            </a:r>
            <a:endParaRPr sz="2974">
              <a:solidFill>
                <a:schemeClr val="dk1"/>
              </a:solidFill>
            </a:endParaRPr>
          </a:p>
          <a:p>
            <a:pPr indent="-332456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b="1" lang="en" sz="2974">
                <a:solidFill>
                  <a:schemeClr val="dk1"/>
                </a:solidFill>
              </a:rPr>
              <a:t>Winding: </a:t>
            </a:r>
            <a:r>
              <a:rPr lang="en" sz="2974">
                <a:solidFill>
                  <a:schemeClr val="dk1"/>
                </a:solidFill>
              </a:rPr>
              <a:t>The arrangement of coils in the stator or rotor that carries electric current.</a:t>
            </a:r>
            <a:endParaRPr sz="2974">
              <a:solidFill>
                <a:schemeClr val="dk1"/>
              </a:solidFill>
            </a:endParaRPr>
          </a:p>
          <a:p>
            <a:pPr indent="-332456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b="1" lang="en" sz="2974">
                <a:solidFill>
                  <a:schemeClr val="dk1"/>
                </a:solidFill>
              </a:rPr>
              <a:t>Stack Length: </a:t>
            </a:r>
            <a:r>
              <a:rPr lang="en" sz="2974">
                <a:solidFill>
                  <a:schemeClr val="dk1"/>
                </a:solidFill>
              </a:rPr>
              <a:t>refers to the axial dimension or height of the stator and rotor core laminations, indicating the length of the magnetic path within the motor.</a:t>
            </a:r>
            <a:endParaRPr sz="2974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2324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b="1" lang="en">
                <a:latin typeface="Oswald"/>
                <a:ea typeface="Oswald"/>
                <a:cs typeface="Oswald"/>
                <a:sym typeface="Oswald"/>
              </a:rPr>
              <a:t>Familiarize With Terminology:</a:t>
            </a:r>
            <a:endParaRPr b="1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970600"/>
            <a:ext cx="8520600" cy="379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AutoNum type="arabicPeriod" startAt="7"/>
            </a:pPr>
            <a:r>
              <a:rPr b="1" lang="en" sz="2000">
                <a:solidFill>
                  <a:srgbClr val="000000"/>
                </a:solidFill>
              </a:rPr>
              <a:t>Slot:</a:t>
            </a:r>
            <a:r>
              <a:rPr lang="en" sz="2000">
                <a:solidFill>
                  <a:srgbClr val="000000"/>
                </a:solidFill>
              </a:rPr>
              <a:t> An opening in the motor where the winding is placed.</a:t>
            </a:r>
            <a:endParaRPr sz="2000">
              <a:solidFill>
                <a:srgbClr val="000000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AutoNum type="arabicPeriod" startAt="7"/>
            </a:pPr>
            <a:r>
              <a:rPr b="1" lang="en" sz="2000">
                <a:solidFill>
                  <a:srgbClr val="000000"/>
                </a:solidFill>
              </a:rPr>
              <a:t>Tooth:</a:t>
            </a:r>
            <a:r>
              <a:rPr lang="en" sz="2000">
                <a:solidFill>
                  <a:srgbClr val="000000"/>
                </a:solidFill>
              </a:rPr>
              <a:t> The part of the stator core that helps shape and guide the magnetic flux path.</a:t>
            </a:r>
            <a:endParaRPr sz="2000">
              <a:solidFill>
                <a:srgbClr val="000000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AutoNum type="arabicPeriod" startAt="7"/>
            </a:pPr>
            <a:r>
              <a:rPr b="1" lang="en" sz="2000">
                <a:solidFill>
                  <a:srgbClr val="000000"/>
                </a:solidFill>
              </a:rPr>
              <a:t>Poles:</a:t>
            </a:r>
            <a:r>
              <a:rPr lang="en" sz="2000">
                <a:solidFill>
                  <a:srgbClr val="000000"/>
                </a:solidFill>
              </a:rPr>
              <a:t> Regions of the stator or rotor where magnetic fields are concentrated (Permanent Magnets In our case).</a:t>
            </a:r>
            <a:endParaRPr sz="2000">
              <a:solidFill>
                <a:srgbClr val="000000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AutoNum type="arabicPeriod" startAt="7"/>
            </a:pPr>
            <a:r>
              <a:rPr b="1" lang="en" sz="2000">
                <a:solidFill>
                  <a:srgbClr val="000000"/>
                </a:solidFill>
              </a:rPr>
              <a:t>Pole Arc:</a:t>
            </a:r>
            <a:r>
              <a:rPr lang="en" sz="2000">
                <a:solidFill>
                  <a:srgbClr val="000000"/>
                </a:solidFill>
              </a:rPr>
              <a:t> The angular span of the rotor pole, which influences motor performance. In 180° of the rotor, what is the angle covered by the poles?</a:t>
            </a:r>
            <a:endParaRPr sz="2000">
              <a:solidFill>
                <a:srgbClr val="000000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AutoNum type="arabicPeriod" startAt="7"/>
            </a:pPr>
            <a:r>
              <a:rPr b="1" lang="en" sz="2000">
                <a:solidFill>
                  <a:srgbClr val="000000"/>
                </a:solidFill>
              </a:rPr>
              <a:t>Topology: </a:t>
            </a:r>
            <a:r>
              <a:rPr lang="en" sz="2000">
                <a:solidFill>
                  <a:srgbClr val="000000"/>
                </a:solidFill>
              </a:rPr>
              <a:t>The specific arrangement and configuration of components, such as stator and rotor structures, winding types, and magnetic circuit layouts, in an electric motor design.</a:t>
            </a:r>
            <a:endParaRPr sz="2000">
              <a:solidFill>
                <a:srgbClr val="000000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AutoNum type="arabicPeriod" startAt="7"/>
            </a:pPr>
            <a:r>
              <a:rPr b="1" lang="en" sz="2000">
                <a:solidFill>
                  <a:srgbClr val="000000"/>
                </a:solidFill>
              </a:rPr>
              <a:t>Magnetic flux: </a:t>
            </a:r>
            <a:r>
              <a:rPr lang="en" sz="2000">
                <a:solidFill>
                  <a:srgbClr val="000000"/>
                </a:solidFill>
              </a:rPr>
              <a:t>is the measure of the total magnetic field passing through a given surface, representing the number of magnetic field lines per unit area perpendicular to the direction of the field. (Radial &amp; Axial)</a:t>
            </a:r>
            <a:endParaRPr sz="2000">
              <a:solidFill>
                <a:srgbClr val="000000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/>
        </p:nvSpPr>
        <p:spPr>
          <a:xfrm>
            <a:off x="5877850" y="1037075"/>
            <a:ext cx="2962500" cy="4155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LEGEND</a:t>
            </a:r>
            <a:endParaRPr b="1" sz="1600"/>
          </a:p>
        </p:txBody>
      </p:sp>
      <p:sp>
        <p:nvSpPr>
          <p:cNvPr id="85" name="Google Shape;85;p18"/>
          <p:cNvSpPr txBox="1"/>
          <p:nvPr/>
        </p:nvSpPr>
        <p:spPr>
          <a:xfrm>
            <a:off x="5877850" y="1452575"/>
            <a:ext cx="2962500" cy="2478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b="1" lang="en" sz="1500"/>
              <a:t>Shaft </a:t>
            </a:r>
            <a:endParaRPr b="1"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b="1" lang="en" sz="1500"/>
              <a:t>Rotor</a:t>
            </a:r>
            <a:endParaRPr b="1"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b="1" lang="en" sz="1500"/>
              <a:t>Air Gap</a:t>
            </a:r>
            <a:endParaRPr b="1"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b="1" lang="en" sz="1500"/>
              <a:t>Stator</a:t>
            </a:r>
            <a:endParaRPr b="1"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b="1" lang="en" sz="1500"/>
              <a:t>Slot</a:t>
            </a:r>
            <a:endParaRPr b="1"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b="1" lang="en" sz="1500"/>
              <a:t>Tooth (</a:t>
            </a:r>
            <a:r>
              <a:rPr b="1" lang="en" sz="1000"/>
              <a:t>in Slot</a:t>
            </a:r>
            <a:r>
              <a:rPr b="1" lang="en" sz="1500"/>
              <a:t>)</a:t>
            </a:r>
            <a:endParaRPr b="1"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b="1" lang="en" sz="1500"/>
              <a:t>Pole</a:t>
            </a:r>
            <a:endParaRPr b="1" sz="1500"/>
          </a:p>
        </p:txBody>
      </p:sp>
      <p:pic>
        <p:nvPicPr>
          <p:cNvPr id="86" name="Google Shape;8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5524976" cy="4784449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8"/>
          <p:cNvSpPr txBox="1"/>
          <p:nvPr/>
        </p:nvSpPr>
        <p:spPr>
          <a:xfrm>
            <a:off x="5254500" y="150575"/>
            <a:ext cx="38895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 u="sng">
                <a:solidFill>
                  <a:schemeClr val="accent2"/>
                </a:solidFill>
              </a:rPr>
              <a:t>IPMSM - Radial Flux Geometry</a:t>
            </a:r>
            <a:endParaRPr b="1" sz="1900" u="sng">
              <a:solidFill>
                <a:schemeClr val="accent2"/>
              </a:solidFill>
            </a:endParaRPr>
          </a:p>
        </p:txBody>
      </p:sp>
      <p:sp>
        <p:nvSpPr>
          <p:cNvPr id="88" name="Google Shape;88;p18"/>
          <p:cNvSpPr txBox="1"/>
          <p:nvPr/>
        </p:nvSpPr>
        <p:spPr>
          <a:xfrm>
            <a:off x="4066175" y="2230475"/>
            <a:ext cx="282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6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89" name="Google Shape;89;p18"/>
          <p:cNvSpPr/>
          <p:nvPr/>
        </p:nvSpPr>
        <p:spPr>
          <a:xfrm>
            <a:off x="7897575" y="1588750"/>
            <a:ext cx="128700" cy="136200"/>
          </a:xfrm>
          <a:prstGeom prst="flowChartConnector">
            <a:avLst/>
          </a:prstGeom>
          <a:solidFill>
            <a:srgbClr val="A349A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8"/>
          <p:cNvSpPr/>
          <p:nvPr/>
        </p:nvSpPr>
        <p:spPr>
          <a:xfrm>
            <a:off x="7897575" y="1880575"/>
            <a:ext cx="128700" cy="136200"/>
          </a:xfrm>
          <a:prstGeom prst="flowChartConnector">
            <a:avLst/>
          </a:prstGeom>
          <a:solidFill>
            <a:srgbClr val="00A2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8"/>
          <p:cNvSpPr/>
          <p:nvPr/>
        </p:nvSpPr>
        <p:spPr>
          <a:xfrm>
            <a:off x="7897575" y="2144038"/>
            <a:ext cx="128700" cy="136200"/>
          </a:xfrm>
          <a:prstGeom prst="flowChartConnector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8"/>
          <p:cNvSpPr/>
          <p:nvPr/>
        </p:nvSpPr>
        <p:spPr>
          <a:xfrm>
            <a:off x="7897575" y="2407513"/>
            <a:ext cx="128700" cy="136200"/>
          </a:xfrm>
          <a:prstGeom prst="flowChartConnector">
            <a:avLst/>
          </a:prstGeom>
          <a:solidFill>
            <a:srgbClr val="ED1C2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8"/>
          <p:cNvSpPr/>
          <p:nvPr/>
        </p:nvSpPr>
        <p:spPr>
          <a:xfrm>
            <a:off x="7897575" y="2642600"/>
            <a:ext cx="128700" cy="136200"/>
          </a:xfrm>
          <a:prstGeom prst="flowChartConnector">
            <a:avLst/>
          </a:prstGeom>
          <a:solidFill>
            <a:srgbClr val="FFF2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8"/>
          <p:cNvSpPr/>
          <p:nvPr/>
        </p:nvSpPr>
        <p:spPr>
          <a:xfrm>
            <a:off x="7897575" y="2934450"/>
            <a:ext cx="128700" cy="136200"/>
          </a:xfrm>
          <a:prstGeom prst="flowChartConnector">
            <a:avLst/>
          </a:prstGeom>
          <a:solidFill>
            <a:srgbClr val="ED1C2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8"/>
          <p:cNvSpPr/>
          <p:nvPr/>
        </p:nvSpPr>
        <p:spPr>
          <a:xfrm>
            <a:off x="7897575" y="3169525"/>
            <a:ext cx="128700" cy="136200"/>
          </a:xfrm>
          <a:prstGeom prst="flowChartConnector">
            <a:avLst/>
          </a:prstGeom>
          <a:solidFill>
            <a:srgbClr val="22B14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/>
        </p:nvSpPr>
        <p:spPr>
          <a:xfrm>
            <a:off x="5254500" y="150575"/>
            <a:ext cx="38895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 u="sng">
                <a:solidFill>
                  <a:schemeClr val="accent2"/>
                </a:solidFill>
              </a:rPr>
              <a:t>MOTOR</a:t>
            </a:r>
            <a:r>
              <a:rPr b="1" lang="en" sz="1900" u="sng">
                <a:solidFill>
                  <a:schemeClr val="accent2"/>
                </a:solidFill>
              </a:rPr>
              <a:t> - WINDING DIAGRAM</a:t>
            </a:r>
            <a:endParaRPr b="1" sz="1900" u="sng">
              <a:solidFill>
                <a:schemeClr val="accent2"/>
              </a:solidFill>
            </a:endParaRPr>
          </a:p>
        </p:txBody>
      </p:sp>
      <p:pic>
        <p:nvPicPr>
          <p:cNvPr id="101" name="Google Shape;10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20625"/>
            <a:ext cx="4949701" cy="4686674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9"/>
          <p:cNvSpPr txBox="1"/>
          <p:nvPr/>
        </p:nvSpPr>
        <p:spPr>
          <a:xfrm>
            <a:off x="5278200" y="970600"/>
            <a:ext cx="3554100" cy="3513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LEGEND</a:t>
            </a:r>
            <a:endParaRPr b="1"/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/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/>
              <a:t>		</a:t>
            </a:r>
            <a:r>
              <a:rPr lang="en"/>
              <a:t>U - Phase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	</a:t>
            </a:r>
            <a:r>
              <a:rPr lang="en">
                <a:solidFill>
                  <a:schemeClr val="dk1"/>
                </a:solidFill>
              </a:rPr>
              <a:t>V - Phase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		W - Phase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3" name="Google Shape;103;p19"/>
          <p:cNvSpPr/>
          <p:nvPr/>
        </p:nvSpPr>
        <p:spPr>
          <a:xfrm>
            <a:off x="5511900" y="2571750"/>
            <a:ext cx="354300" cy="276300"/>
          </a:xfrm>
          <a:prstGeom prst="rect">
            <a:avLst/>
          </a:prstGeom>
          <a:solidFill>
            <a:srgbClr val="FFC999"/>
          </a:solidFill>
          <a:ln cap="flat" cmpd="sng" w="9525">
            <a:solidFill>
              <a:srgbClr val="FF6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9"/>
          <p:cNvSpPr/>
          <p:nvPr/>
        </p:nvSpPr>
        <p:spPr>
          <a:xfrm>
            <a:off x="5511900" y="1679175"/>
            <a:ext cx="354300" cy="276300"/>
          </a:xfrm>
          <a:prstGeom prst="rect">
            <a:avLst/>
          </a:prstGeom>
          <a:solidFill>
            <a:srgbClr val="94BEFF"/>
          </a:solidFill>
          <a:ln cap="flat" cmpd="sng" w="9525">
            <a:solidFill>
              <a:srgbClr val="0033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9"/>
          <p:cNvSpPr/>
          <p:nvPr/>
        </p:nvSpPr>
        <p:spPr>
          <a:xfrm>
            <a:off x="5511900" y="3595650"/>
            <a:ext cx="354300" cy="276300"/>
          </a:xfrm>
          <a:prstGeom prst="rect">
            <a:avLst/>
          </a:prstGeom>
          <a:solidFill>
            <a:srgbClr val="A9FFA9"/>
          </a:solidFill>
          <a:ln cap="flat" cmpd="sng" w="9525">
            <a:solidFill>
              <a:srgbClr val="008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6" name="Google Shape;106;p19"/>
          <p:cNvCxnSpPr/>
          <p:nvPr/>
        </p:nvCxnSpPr>
        <p:spPr>
          <a:xfrm>
            <a:off x="5291300" y="1413725"/>
            <a:ext cx="3578100" cy="29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/>
          <p:nvPr>
            <p:ph type="title"/>
          </p:nvPr>
        </p:nvSpPr>
        <p:spPr>
          <a:xfrm>
            <a:off x="311700" y="708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swald"/>
                <a:ea typeface="Oswald"/>
                <a:cs typeface="Oswald"/>
                <a:sym typeface="Oswald"/>
              </a:rPr>
              <a:t>What are we Designing ?</a:t>
            </a:r>
            <a:endParaRPr b="1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12" name="Google Shape;112;p20"/>
          <p:cNvSpPr txBox="1"/>
          <p:nvPr>
            <p:ph idx="1" type="body"/>
          </p:nvPr>
        </p:nvSpPr>
        <p:spPr>
          <a:xfrm>
            <a:off x="311700" y="673050"/>
            <a:ext cx="8520600" cy="447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34">
                <a:solidFill>
                  <a:schemeClr val="dk1"/>
                </a:solidFill>
              </a:rPr>
              <a:t>The motor that we are designing has the following specification</a:t>
            </a:r>
            <a:r>
              <a:rPr lang="en" sz="2534">
                <a:solidFill>
                  <a:schemeClr val="dk1"/>
                </a:solidFill>
              </a:rPr>
              <a:t>:</a:t>
            </a:r>
            <a:endParaRPr sz="2534">
              <a:solidFill>
                <a:schemeClr val="dk1"/>
              </a:solidFill>
            </a:endParaRPr>
          </a:p>
          <a:p>
            <a:pPr indent="-317106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b="1" lang="en" sz="2534">
                <a:solidFill>
                  <a:schemeClr val="dk1"/>
                </a:solidFill>
              </a:rPr>
              <a:t>Topology:</a:t>
            </a:r>
            <a:endParaRPr b="1" sz="2534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534">
                <a:solidFill>
                  <a:schemeClr val="dk1"/>
                </a:solidFill>
              </a:rPr>
              <a:t>IPMSM </a:t>
            </a:r>
            <a:r>
              <a:rPr b="1" lang="en" sz="2534">
                <a:solidFill>
                  <a:schemeClr val="dk1"/>
                </a:solidFill>
              </a:rPr>
              <a:t> Radial Flux </a:t>
            </a:r>
            <a:r>
              <a:rPr lang="en" sz="2534">
                <a:solidFill>
                  <a:schemeClr val="dk1"/>
                </a:solidFill>
              </a:rPr>
              <a:t>( Interior Permanent Magnet Synchronous Motor): electric motor with permanent magnets embedded in the rotor and magnetic flux flows perpendicular to the axis.</a:t>
            </a:r>
            <a:endParaRPr sz="2534">
              <a:solidFill>
                <a:schemeClr val="dk1"/>
              </a:solidFill>
            </a:endParaRPr>
          </a:p>
          <a:p>
            <a:pPr indent="-317106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b="1" lang="en" sz="2534">
                <a:solidFill>
                  <a:schemeClr val="dk1"/>
                </a:solidFill>
              </a:rPr>
              <a:t>Slot Pole Combination: </a:t>
            </a:r>
            <a:endParaRPr b="1" sz="2534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534">
                <a:solidFill>
                  <a:schemeClr val="dk1"/>
                </a:solidFill>
              </a:rPr>
              <a:t>	12 slots and 10 poles </a:t>
            </a:r>
            <a:endParaRPr sz="2534">
              <a:solidFill>
                <a:schemeClr val="dk1"/>
              </a:solidFill>
            </a:endParaRPr>
          </a:p>
          <a:p>
            <a:pPr indent="-317106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b="1" lang="en" sz="2534">
                <a:solidFill>
                  <a:schemeClr val="dk1"/>
                </a:solidFill>
              </a:rPr>
              <a:t>Winding:</a:t>
            </a:r>
            <a:endParaRPr b="1" sz="2534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534">
                <a:solidFill>
                  <a:schemeClr val="dk1"/>
                </a:solidFill>
              </a:rPr>
              <a:t>	Three Phase Double Layer Concentrated Winding.</a:t>
            </a:r>
            <a:endParaRPr sz="2534">
              <a:solidFill>
                <a:schemeClr val="dk1"/>
              </a:solidFill>
            </a:endParaRPr>
          </a:p>
          <a:p>
            <a:pPr indent="-317106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b="1" lang="en" sz="2534">
                <a:solidFill>
                  <a:schemeClr val="dk1"/>
                </a:solidFill>
              </a:rPr>
              <a:t>Materials: </a:t>
            </a:r>
            <a:endParaRPr b="1" sz="2534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534">
                <a:solidFill>
                  <a:schemeClr val="dk1"/>
                </a:solidFill>
              </a:rPr>
              <a:t>1. Magnet:</a:t>
            </a:r>
            <a:r>
              <a:rPr lang="en" sz="2534">
                <a:solidFill>
                  <a:schemeClr val="dk1"/>
                </a:solidFill>
              </a:rPr>
              <a:t> N42 RE (Rare Earth)</a:t>
            </a:r>
            <a:endParaRPr sz="2534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534">
                <a:solidFill>
                  <a:schemeClr val="dk1"/>
                </a:solidFill>
              </a:rPr>
              <a:t>2. Steel:</a:t>
            </a:r>
            <a:r>
              <a:rPr lang="en" sz="2534">
                <a:solidFill>
                  <a:schemeClr val="dk1"/>
                </a:solidFill>
              </a:rPr>
              <a:t> M250-35A</a:t>
            </a:r>
            <a:endParaRPr sz="2534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534">
                <a:solidFill>
                  <a:schemeClr val="dk1"/>
                </a:solidFill>
              </a:rPr>
              <a:t>3. Wire:</a:t>
            </a:r>
            <a:r>
              <a:rPr lang="en" sz="2534">
                <a:solidFill>
                  <a:schemeClr val="dk1"/>
                </a:solidFill>
              </a:rPr>
              <a:t> Copper 20 SWG</a:t>
            </a:r>
            <a:endParaRPr sz="2534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/>
          <p:nvPr>
            <p:ph type="title"/>
          </p:nvPr>
        </p:nvSpPr>
        <p:spPr>
          <a:xfrm>
            <a:off x="283350" y="908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swald"/>
                <a:ea typeface="Oswald"/>
                <a:cs typeface="Oswald"/>
                <a:sym typeface="Oswald"/>
              </a:rPr>
              <a:t>What Information Do We Have? (Input)</a:t>
            </a:r>
            <a:endParaRPr b="1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18" name="Google Shape;118;p21"/>
          <p:cNvSpPr txBox="1"/>
          <p:nvPr>
            <p:ph idx="1" type="body"/>
          </p:nvPr>
        </p:nvSpPr>
        <p:spPr>
          <a:xfrm>
            <a:off x="283350" y="736825"/>
            <a:ext cx="3754800" cy="420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 u="sng">
                <a:solidFill>
                  <a:schemeClr val="dk1"/>
                </a:solidFill>
              </a:rPr>
              <a:t>From Motor Wiz</a:t>
            </a:r>
            <a:r>
              <a:rPr b="1" lang="en" sz="1400" u="sng">
                <a:solidFill>
                  <a:schemeClr val="dk1"/>
                </a:solidFill>
              </a:rPr>
              <a:t>:	</a:t>
            </a:r>
            <a:endParaRPr b="1" sz="1400" u="sng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en" sz="1400">
                <a:solidFill>
                  <a:schemeClr val="dk1"/>
                </a:solidFill>
              </a:rPr>
              <a:t>Rotor Outer Diameter (Rotor OD)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en" sz="1400">
                <a:solidFill>
                  <a:schemeClr val="dk1"/>
                </a:solidFill>
              </a:rPr>
              <a:t>Tooth thickness (t)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en" sz="1400">
                <a:solidFill>
                  <a:schemeClr val="dk1"/>
                </a:solidFill>
              </a:rPr>
              <a:t>Slot OD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en" sz="1400">
                <a:solidFill>
                  <a:schemeClr val="dk1"/>
                </a:solidFill>
              </a:rPr>
              <a:t>Slot depth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en" sz="1400">
                <a:solidFill>
                  <a:schemeClr val="dk1"/>
                </a:solidFill>
              </a:rPr>
              <a:t>Yoke thickness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en" sz="1400">
                <a:solidFill>
                  <a:schemeClr val="dk1"/>
                </a:solidFill>
              </a:rPr>
              <a:t>Stator OD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en" sz="1400">
                <a:solidFill>
                  <a:schemeClr val="dk1"/>
                </a:solidFill>
              </a:rPr>
              <a:t>Rotor ID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en" sz="1400">
                <a:solidFill>
                  <a:schemeClr val="dk1"/>
                </a:solidFill>
              </a:rPr>
              <a:t>Dm (mean slot dia)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en" sz="1400">
                <a:solidFill>
                  <a:schemeClr val="dk1"/>
                </a:solidFill>
              </a:rPr>
              <a:t>Stack Length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en" sz="1400">
                <a:solidFill>
                  <a:schemeClr val="dk1"/>
                </a:solidFill>
              </a:rPr>
              <a:t>Number Of Slots (12)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en" sz="1400">
                <a:solidFill>
                  <a:schemeClr val="dk1"/>
                </a:solidFill>
              </a:rPr>
              <a:t>Number Of Poles (10)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en" sz="1400">
                <a:solidFill>
                  <a:schemeClr val="dk1"/>
                </a:solidFill>
              </a:rPr>
              <a:t>Air Gap (0.5mm)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en" sz="1400">
                <a:solidFill>
                  <a:schemeClr val="dk1"/>
                </a:solidFill>
              </a:rPr>
              <a:t>Pole Length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en" sz="1400">
                <a:solidFill>
                  <a:schemeClr val="dk1"/>
                </a:solidFill>
              </a:rPr>
              <a:t>Pole Width</a:t>
            </a:r>
            <a:endParaRPr b="1"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  <p:sp>
        <p:nvSpPr>
          <p:cNvPr id="119" name="Google Shape;119;p21"/>
          <p:cNvSpPr txBox="1"/>
          <p:nvPr>
            <p:ph idx="1" type="body"/>
          </p:nvPr>
        </p:nvSpPr>
        <p:spPr>
          <a:xfrm>
            <a:off x="4920375" y="736825"/>
            <a:ext cx="3754800" cy="420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 u="sng">
                <a:solidFill>
                  <a:schemeClr val="dk1"/>
                </a:solidFill>
              </a:rPr>
              <a:t>Assumptions</a:t>
            </a:r>
            <a:r>
              <a:rPr b="1" lang="en" sz="1400" u="sng">
                <a:solidFill>
                  <a:schemeClr val="dk1"/>
                </a:solidFill>
              </a:rPr>
              <a:t>:	</a:t>
            </a:r>
            <a:endParaRPr b="1" sz="1400" u="sng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en" sz="1400">
                <a:solidFill>
                  <a:schemeClr val="dk1"/>
                </a:solidFill>
              </a:rPr>
              <a:t>Pole Arc: 150°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en" sz="1400">
                <a:solidFill>
                  <a:schemeClr val="dk1"/>
                </a:solidFill>
              </a:rPr>
              <a:t>Slot Opening: 3mm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en" sz="1400">
                <a:solidFill>
                  <a:schemeClr val="dk1"/>
                </a:solidFill>
              </a:rPr>
              <a:t>Bridge Thickness: 1mm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en" sz="1400">
                <a:solidFill>
                  <a:schemeClr val="dk1"/>
                </a:solidFill>
              </a:rPr>
              <a:t>Shaft Diameter: 20mm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en" sz="1400">
                <a:solidFill>
                  <a:schemeClr val="dk1"/>
                </a:solidFill>
              </a:rPr>
              <a:t>Tooth Tip Angle: 30°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 txBox="1"/>
          <p:nvPr>
            <p:ph type="title"/>
          </p:nvPr>
        </p:nvSpPr>
        <p:spPr>
          <a:xfrm>
            <a:off x="311700" y="41175"/>
            <a:ext cx="8520600" cy="4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swald"/>
                <a:ea typeface="Oswald"/>
                <a:cs typeface="Oswald"/>
                <a:sym typeface="Oswald"/>
              </a:rPr>
              <a:t>What Should Be the Output?</a:t>
            </a:r>
            <a:endParaRPr b="1"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25" name="Google Shape;12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100" y="877925"/>
            <a:ext cx="4520049" cy="41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1947" y="828325"/>
            <a:ext cx="4384653" cy="4138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3"/>
          <p:cNvSpPr txBox="1"/>
          <p:nvPr>
            <p:ph type="title"/>
          </p:nvPr>
        </p:nvSpPr>
        <p:spPr>
          <a:xfrm>
            <a:off x="311700" y="22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swald"/>
                <a:ea typeface="Oswald"/>
                <a:cs typeface="Oswald"/>
                <a:sym typeface="Oswald"/>
              </a:rPr>
              <a:t>DXF Entities</a:t>
            </a:r>
            <a:endParaRPr b="1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32" name="Google Shape;132;p23"/>
          <p:cNvSpPr txBox="1"/>
          <p:nvPr>
            <p:ph idx="1" type="body"/>
          </p:nvPr>
        </p:nvSpPr>
        <p:spPr>
          <a:xfrm>
            <a:off x="311700" y="871425"/>
            <a:ext cx="8520600" cy="38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AutoNum type="arabicPeriod"/>
            </a:pPr>
            <a:r>
              <a:rPr b="1" lang="en" sz="2000">
                <a:solidFill>
                  <a:srgbClr val="000000"/>
                </a:solidFill>
              </a:rPr>
              <a:t>Points:</a:t>
            </a:r>
            <a:r>
              <a:rPr lang="en" sz="2000">
                <a:solidFill>
                  <a:srgbClr val="000000"/>
                </a:solidFill>
              </a:rPr>
              <a:t> Specified by coordinates (x,y)</a:t>
            </a:r>
            <a:endParaRPr sz="2000">
              <a:solidFill>
                <a:srgbClr val="000000"/>
              </a:solidFill>
            </a:endParaRPr>
          </a:p>
          <a:p>
            <a:pPr indent="-3556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AutoNum type="arabicPeriod"/>
            </a:pPr>
            <a:r>
              <a:rPr b="1" lang="en" sz="2000">
                <a:solidFill>
                  <a:srgbClr val="000000"/>
                </a:solidFill>
              </a:rPr>
              <a:t>Lines: </a:t>
            </a:r>
            <a:r>
              <a:rPr lang="en" sz="2000">
                <a:solidFill>
                  <a:srgbClr val="000000"/>
                </a:solidFill>
              </a:rPr>
              <a:t>Specified by two points ((x1,y1),(x2,y2))</a:t>
            </a:r>
            <a:endParaRPr sz="2000">
              <a:solidFill>
                <a:srgbClr val="000000"/>
              </a:solidFill>
            </a:endParaRPr>
          </a:p>
          <a:p>
            <a:pPr indent="-3556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AutoNum type="arabicPeriod"/>
            </a:pPr>
            <a:r>
              <a:rPr b="1" lang="en" sz="2000">
                <a:solidFill>
                  <a:srgbClr val="000000"/>
                </a:solidFill>
              </a:rPr>
              <a:t>Circles: </a:t>
            </a:r>
            <a:r>
              <a:rPr lang="en" sz="2000">
                <a:solidFill>
                  <a:srgbClr val="000000"/>
                </a:solidFill>
              </a:rPr>
              <a:t>Specified by centre point and the radius ((xo,yo), r)</a:t>
            </a:r>
            <a:endParaRPr sz="2000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AutoNum type="arabicPeriod"/>
            </a:pPr>
            <a:r>
              <a:rPr b="1" lang="en" sz="2000">
                <a:solidFill>
                  <a:srgbClr val="000000"/>
                </a:solidFill>
              </a:rPr>
              <a:t>Arcs:</a:t>
            </a:r>
            <a:r>
              <a:rPr lang="en" sz="2000">
                <a:solidFill>
                  <a:srgbClr val="000000"/>
                </a:solidFill>
              </a:rPr>
              <a:t> Specified by </a:t>
            </a:r>
            <a:r>
              <a:rPr lang="en" sz="2000">
                <a:solidFill>
                  <a:schemeClr val="dk1"/>
                </a:solidFill>
              </a:rPr>
              <a:t>centre point</a:t>
            </a:r>
            <a:r>
              <a:rPr lang="en" sz="2000">
                <a:solidFill>
                  <a:srgbClr val="000000"/>
                </a:solidFill>
              </a:rPr>
              <a:t>, radius and an angle ((xo,</a:t>
            </a:r>
            <a:r>
              <a:rPr lang="en">
                <a:solidFill>
                  <a:srgbClr val="000000"/>
                </a:solidFill>
              </a:rPr>
              <a:t>yo), r, angle)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4"/>
          <p:cNvSpPr txBox="1"/>
          <p:nvPr>
            <p:ph type="title"/>
          </p:nvPr>
        </p:nvSpPr>
        <p:spPr>
          <a:xfrm>
            <a:off x="240875" y="1616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swald"/>
                <a:ea typeface="Oswald"/>
                <a:cs typeface="Oswald"/>
                <a:sym typeface="Oswald"/>
              </a:rPr>
              <a:t>Coordinate Systems</a:t>
            </a:r>
            <a:endParaRPr b="1"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38" name="Google Shape;13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0875" y="1431100"/>
            <a:ext cx="3542375" cy="35423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9" name="Google Shape;139;p24"/>
          <p:cNvSpPr txBox="1"/>
          <p:nvPr/>
        </p:nvSpPr>
        <p:spPr>
          <a:xfrm>
            <a:off x="240875" y="984775"/>
            <a:ext cx="354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Cartesian Coordinates (x,y)</a:t>
            </a:r>
            <a:endParaRPr b="1"/>
          </a:p>
        </p:txBody>
      </p:sp>
      <p:sp>
        <p:nvSpPr>
          <p:cNvPr id="140" name="Google Shape;140;p24"/>
          <p:cNvSpPr txBox="1"/>
          <p:nvPr/>
        </p:nvSpPr>
        <p:spPr>
          <a:xfrm>
            <a:off x="4668825" y="984775"/>
            <a:ext cx="409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Polar </a:t>
            </a:r>
            <a:r>
              <a:rPr b="1" lang="en"/>
              <a:t>Coordinates (r,</a:t>
            </a:r>
            <a:r>
              <a:rPr b="1" lang="en"/>
              <a:t>𝚹</a:t>
            </a:r>
            <a:r>
              <a:rPr b="1" lang="en"/>
              <a:t>)</a:t>
            </a:r>
            <a:endParaRPr b="1"/>
          </a:p>
        </p:txBody>
      </p:sp>
      <p:pic>
        <p:nvPicPr>
          <p:cNvPr id="141" name="Google Shape;141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96150" y="1431100"/>
            <a:ext cx="3965325" cy="3542376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5"/>
          <p:cNvSpPr txBox="1"/>
          <p:nvPr>
            <p:ph type="title"/>
          </p:nvPr>
        </p:nvSpPr>
        <p:spPr>
          <a:xfrm>
            <a:off x="276275" y="218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swald"/>
                <a:ea typeface="Oswald"/>
                <a:cs typeface="Oswald"/>
                <a:sym typeface="Oswald"/>
              </a:rPr>
              <a:t>Why should we consider Polar Coordinates?</a:t>
            </a:r>
            <a:endParaRPr b="1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7" name="Google Shape;147;p25"/>
          <p:cNvSpPr txBox="1"/>
          <p:nvPr>
            <p:ph idx="1" type="body"/>
          </p:nvPr>
        </p:nvSpPr>
        <p:spPr>
          <a:xfrm>
            <a:off x="311700" y="1310675"/>
            <a:ext cx="8520600" cy="325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AutoNum type="arabicPeriod"/>
            </a:pPr>
            <a:r>
              <a:rPr lang="en">
                <a:solidFill>
                  <a:srgbClr val="000000"/>
                </a:solidFill>
              </a:rPr>
              <a:t>To exploit the circular symmetry of the IPMSM Radial Motor’s Topology.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AutoNum type="arabicPeriod"/>
            </a:pPr>
            <a:r>
              <a:rPr lang="en">
                <a:solidFill>
                  <a:srgbClr val="000000"/>
                </a:solidFill>
              </a:rPr>
              <a:t>The geometrical inputs, we are going to use are already given in terms of radius and angles.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6"/>
          <p:cNvSpPr txBox="1"/>
          <p:nvPr>
            <p:ph type="title"/>
          </p:nvPr>
        </p:nvSpPr>
        <p:spPr>
          <a:xfrm>
            <a:off x="311700" y="126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swald"/>
                <a:ea typeface="Oswald"/>
                <a:cs typeface="Oswald"/>
                <a:sym typeface="Oswald"/>
              </a:rPr>
              <a:t>Basic Formulae &amp; Conversions:</a:t>
            </a:r>
            <a:endParaRPr b="1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3" name="Google Shape;153;p26"/>
          <p:cNvSpPr txBox="1"/>
          <p:nvPr/>
        </p:nvSpPr>
        <p:spPr>
          <a:xfrm>
            <a:off x="368400" y="1062700"/>
            <a:ext cx="2649600" cy="3691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Sinθ =  </a:t>
            </a:r>
            <a:r>
              <a:rPr lang="en" u="sng"/>
              <a:t>opposite</a:t>
            </a:r>
            <a:endParaRPr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/>
              <a:t>	</a:t>
            </a:r>
            <a:r>
              <a:rPr lang="en"/>
              <a:t> hypotenuse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Cos</a:t>
            </a:r>
            <a:r>
              <a:rPr lang="en">
                <a:solidFill>
                  <a:schemeClr val="dk1"/>
                </a:solidFill>
              </a:rPr>
              <a:t>θ =   </a:t>
            </a:r>
            <a:r>
              <a:rPr lang="en" u="sng">
                <a:solidFill>
                  <a:schemeClr val="dk1"/>
                </a:solidFill>
              </a:rPr>
              <a:t>adjacent</a:t>
            </a:r>
            <a:endParaRPr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dk1"/>
                </a:solidFill>
              </a:rPr>
              <a:t>	</a:t>
            </a:r>
            <a:r>
              <a:rPr lang="en">
                <a:solidFill>
                  <a:schemeClr val="dk1"/>
                </a:solidFill>
              </a:rPr>
              <a:t>  hypotenuse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Tanθ =  </a:t>
            </a:r>
            <a:r>
              <a:rPr lang="en" u="sng">
                <a:solidFill>
                  <a:schemeClr val="dk1"/>
                </a:solidFill>
              </a:rPr>
              <a:t>opposite</a:t>
            </a:r>
            <a:endParaRPr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dk1"/>
                </a:solidFill>
              </a:rPr>
              <a:t>	</a:t>
            </a:r>
            <a:r>
              <a:rPr lang="en">
                <a:solidFill>
                  <a:schemeClr val="dk1"/>
                </a:solidFill>
              </a:rPr>
              <a:t>   adjacent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 = Rθ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circumference = 2𝝅R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4" name="Google Shape;154;p26"/>
          <p:cNvSpPr txBox="1"/>
          <p:nvPr/>
        </p:nvSpPr>
        <p:spPr>
          <a:xfrm>
            <a:off x="3247200" y="1062700"/>
            <a:ext cx="2649600" cy="3691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/>
              <a:t>Polar to Cartesian:</a:t>
            </a:r>
            <a:endParaRPr b="1"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 = r × Cos θ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 = r × Sin  θ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wrt horizontal line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/>
              <a:t>Cartesian to Polar:</a:t>
            </a:r>
            <a:endParaRPr b="1"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r = √(x^2+y^2)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θ = Tan inverse(y/x)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5" name="Google Shape;155;p26"/>
          <p:cNvSpPr txBox="1"/>
          <p:nvPr/>
        </p:nvSpPr>
        <p:spPr>
          <a:xfrm>
            <a:off x="6182700" y="1062700"/>
            <a:ext cx="2649600" cy="3691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/>
              <a:t>Degrees to Radians:</a:t>
            </a:r>
            <a:endParaRPr b="1"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Deg = (</a:t>
            </a:r>
            <a:r>
              <a:rPr lang="en">
                <a:solidFill>
                  <a:schemeClr val="dk1"/>
                </a:solidFill>
              </a:rPr>
              <a:t>180×radians)/ 𝝅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chemeClr val="dk1"/>
                </a:solidFill>
              </a:rPr>
              <a:t>Radians to Degrees: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Radians =  (𝝅×degrees)/180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7"/>
          <p:cNvSpPr txBox="1"/>
          <p:nvPr>
            <p:ph type="title"/>
          </p:nvPr>
        </p:nvSpPr>
        <p:spPr>
          <a:xfrm>
            <a:off x="311700" y="1616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swald"/>
                <a:ea typeface="Oswald"/>
                <a:cs typeface="Oswald"/>
                <a:sym typeface="Oswald"/>
              </a:rPr>
              <a:t>Drawing The Rotor</a:t>
            </a:r>
            <a:endParaRPr b="1"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61" name="Google Shape;16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0313" y="1003550"/>
            <a:ext cx="4763372" cy="410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8"/>
          <p:cNvSpPr txBox="1"/>
          <p:nvPr>
            <p:ph type="title"/>
          </p:nvPr>
        </p:nvSpPr>
        <p:spPr>
          <a:xfrm>
            <a:off x="311700" y="1120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swald"/>
                <a:ea typeface="Oswald"/>
                <a:cs typeface="Oswald"/>
                <a:sym typeface="Oswald"/>
              </a:rPr>
              <a:t>Rotor Segment</a:t>
            </a:r>
            <a:endParaRPr b="1"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67" name="Google Shape;16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7463" y="918550"/>
            <a:ext cx="4729070" cy="4083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9"/>
          <p:cNvSpPr txBox="1"/>
          <p:nvPr>
            <p:ph type="title"/>
          </p:nvPr>
        </p:nvSpPr>
        <p:spPr>
          <a:xfrm>
            <a:off x="311700" y="2395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Draw Rotor And Shaft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73" name="Google Shape;173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06350"/>
            <a:ext cx="4176295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9"/>
          <p:cNvSpPr txBox="1"/>
          <p:nvPr/>
        </p:nvSpPr>
        <p:spPr>
          <a:xfrm>
            <a:off x="5377300" y="1268150"/>
            <a:ext cx="2805600" cy="31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Draw Circle with  and origin at (0,0) and radius: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Shaft: </a:t>
            </a:r>
            <a:r>
              <a:rPr lang="en"/>
              <a:t>Shaft_radius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Rotor: </a:t>
            </a:r>
            <a:r>
              <a:rPr lang="en"/>
              <a:t>Rotor_outer_radius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0"/>
          <p:cNvSpPr txBox="1"/>
          <p:nvPr>
            <p:ph type="title"/>
          </p:nvPr>
        </p:nvSpPr>
        <p:spPr>
          <a:xfrm>
            <a:off x="276275" y="0"/>
            <a:ext cx="4257900" cy="45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swald"/>
                <a:ea typeface="Oswald"/>
                <a:cs typeface="Oswald"/>
                <a:sym typeface="Oswald"/>
              </a:rPr>
              <a:t>Drawing Pole</a:t>
            </a:r>
            <a:endParaRPr b="1"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80" name="Google Shape;18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275" y="936350"/>
            <a:ext cx="3297850" cy="412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30"/>
          <p:cNvSpPr/>
          <p:nvPr/>
        </p:nvSpPr>
        <p:spPr>
          <a:xfrm>
            <a:off x="1590400" y="3896009"/>
            <a:ext cx="736825" cy="269825"/>
          </a:xfrm>
          <a:custGeom>
            <a:rect b="b" l="l" r="r" t="t"/>
            <a:pathLst>
              <a:path extrusionOk="0" h="10793" w="29473">
                <a:moveTo>
                  <a:pt x="0" y="9659"/>
                </a:moveTo>
                <a:cubicBezTo>
                  <a:pt x="2551" y="8053"/>
                  <a:pt x="10391" y="-165"/>
                  <a:pt x="15303" y="24"/>
                </a:cubicBezTo>
                <a:cubicBezTo>
                  <a:pt x="20215" y="213"/>
                  <a:pt x="27111" y="8998"/>
                  <a:pt x="29473" y="10793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182" name="Google Shape;182;p30"/>
          <p:cNvCxnSpPr/>
          <p:nvPr/>
        </p:nvCxnSpPr>
        <p:spPr>
          <a:xfrm flipH="1" rot="10800000">
            <a:off x="1887975" y="4484500"/>
            <a:ext cx="460500" cy="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3" name="Google Shape;183;p30"/>
          <p:cNvSpPr txBox="1"/>
          <p:nvPr/>
        </p:nvSpPr>
        <p:spPr>
          <a:xfrm>
            <a:off x="2327225" y="4295050"/>
            <a:ext cx="5100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/>
              <a:t>Pole angle</a:t>
            </a:r>
            <a:endParaRPr b="1" sz="900"/>
          </a:p>
        </p:txBody>
      </p:sp>
      <p:cxnSp>
        <p:nvCxnSpPr>
          <p:cNvPr id="184" name="Google Shape;184;p30"/>
          <p:cNvCxnSpPr/>
          <p:nvPr/>
        </p:nvCxnSpPr>
        <p:spPr>
          <a:xfrm rot="10800000">
            <a:off x="463985" y="836000"/>
            <a:ext cx="772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5" name="Google Shape;185;p30"/>
          <p:cNvCxnSpPr/>
          <p:nvPr/>
        </p:nvCxnSpPr>
        <p:spPr>
          <a:xfrm flipH="1" rot="10800000">
            <a:off x="2412225" y="832400"/>
            <a:ext cx="1027200" cy="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6" name="Google Shape;186;p30"/>
          <p:cNvSpPr txBox="1"/>
          <p:nvPr/>
        </p:nvSpPr>
        <p:spPr>
          <a:xfrm>
            <a:off x="1300175" y="682100"/>
            <a:ext cx="1112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Pole Length</a:t>
            </a:r>
            <a:endParaRPr b="1" sz="1100"/>
          </a:p>
        </p:txBody>
      </p:sp>
      <p:sp>
        <p:nvSpPr>
          <p:cNvPr id="187" name="Google Shape;187;p30"/>
          <p:cNvSpPr txBox="1"/>
          <p:nvPr/>
        </p:nvSpPr>
        <p:spPr>
          <a:xfrm>
            <a:off x="315400" y="2800775"/>
            <a:ext cx="460500" cy="3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R1</a:t>
            </a:r>
            <a:endParaRPr/>
          </a:p>
        </p:txBody>
      </p:sp>
      <p:cxnSp>
        <p:nvCxnSpPr>
          <p:cNvPr id="188" name="Google Shape;188;p30"/>
          <p:cNvCxnSpPr/>
          <p:nvPr/>
        </p:nvCxnSpPr>
        <p:spPr>
          <a:xfrm flipH="1" rot="10800000">
            <a:off x="708450" y="2992100"/>
            <a:ext cx="269100" cy="1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9" name="Google Shape;189;p30"/>
          <p:cNvCxnSpPr/>
          <p:nvPr/>
        </p:nvCxnSpPr>
        <p:spPr>
          <a:xfrm>
            <a:off x="1958825" y="1693250"/>
            <a:ext cx="191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0" name="Google Shape;190;p30"/>
          <p:cNvSpPr txBox="1"/>
          <p:nvPr/>
        </p:nvSpPr>
        <p:spPr>
          <a:xfrm>
            <a:off x="2209100" y="1523900"/>
            <a:ext cx="1027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Pole Distance</a:t>
            </a:r>
            <a:endParaRPr b="1" sz="1000"/>
          </a:p>
        </p:txBody>
      </p:sp>
      <p:cxnSp>
        <p:nvCxnSpPr>
          <p:cNvPr id="191" name="Google Shape;191;p30"/>
          <p:cNvCxnSpPr/>
          <p:nvPr/>
        </p:nvCxnSpPr>
        <p:spPr>
          <a:xfrm>
            <a:off x="3524550" y="1006025"/>
            <a:ext cx="276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92" name="Google Shape;192;p30"/>
          <p:cNvCxnSpPr/>
          <p:nvPr/>
        </p:nvCxnSpPr>
        <p:spPr>
          <a:xfrm>
            <a:off x="3538725" y="1509050"/>
            <a:ext cx="255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93" name="Google Shape;193;p30"/>
          <p:cNvCxnSpPr/>
          <p:nvPr/>
        </p:nvCxnSpPr>
        <p:spPr>
          <a:xfrm>
            <a:off x="3786675" y="1027275"/>
            <a:ext cx="0" cy="47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94" name="Google Shape;194;p30"/>
          <p:cNvCxnSpPr/>
          <p:nvPr/>
        </p:nvCxnSpPr>
        <p:spPr>
          <a:xfrm flipH="1" rot="10800000">
            <a:off x="3807925" y="1232625"/>
            <a:ext cx="106200" cy="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5" name="Google Shape;195;p30"/>
          <p:cNvSpPr txBox="1"/>
          <p:nvPr/>
        </p:nvSpPr>
        <p:spPr>
          <a:xfrm>
            <a:off x="3935375" y="1036125"/>
            <a:ext cx="55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/>
              <a:t>Pole Width</a:t>
            </a:r>
            <a:endParaRPr b="1" sz="900"/>
          </a:p>
        </p:txBody>
      </p:sp>
      <p:sp>
        <p:nvSpPr>
          <p:cNvPr id="196" name="Google Shape;196;p30"/>
          <p:cNvSpPr txBox="1"/>
          <p:nvPr/>
        </p:nvSpPr>
        <p:spPr>
          <a:xfrm>
            <a:off x="0" y="1416950"/>
            <a:ext cx="4605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x1,y1</a:t>
            </a:r>
            <a:endParaRPr sz="800"/>
          </a:p>
        </p:txBody>
      </p:sp>
      <p:sp>
        <p:nvSpPr>
          <p:cNvPr id="197" name="Google Shape;197;p30"/>
          <p:cNvSpPr txBox="1"/>
          <p:nvPr/>
        </p:nvSpPr>
        <p:spPr>
          <a:xfrm>
            <a:off x="3432450" y="1416950"/>
            <a:ext cx="51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x2,y2</a:t>
            </a:r>
            <a:endParaRPr sz="800"/>
          </a:p>
        </p:txBody>
      </p:sp>
      <p:sp>
        <p:nvSpPr>
          <p:cNvPr id="198" name="Google Shape;198;p30"/>
          <p:cNvSpPr txBox="1"/>
          <p:nvPr/>
        </p:nvSpPr>
        <p:spPr>
          <a:xfrm>
            <a:off x="1754200" y="4873800"/>
            <a:ext cx="4092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0</a:t>
            </a:r>
            <a:r>
              <a:rPr lang="en" sz="800"/>
              <a:t>,0</a:t>
            </a:r>
            <a:endParaRPr sz="800"/>
          </a:p>
        </p:txBody>
      </p:sp>
      <p:sp>
        <p:nvSpPr>
          <p:cNvPr id="199" name="Google Shape;199;p30"/>
          <p:cNvSpPr txBox="1"/>
          <p:nvPr/>
        </p:nvSpPr>
        <p:spPr>
          <a:xfrm>
            <a:off x="5866150" y="148775"/>
            <a:ext cx="284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Find (x1,y1) and (x2,y2):</a:t>
            </a:r>
            <a:endParaRPr/>
          </a:p>
        </p:txBody>
      </p:sp>
      <p:sp>
        <p:nvSpPr>
          <p:cNvPr id="200" name="Google Shape;200;p30"/>
          <p:cNvSpPr txBox="1"/>
          <p:nvPr/>
        </p:nvSpPr>
        <p:spPr>
          <a:xfrm>
            <a:off x="4690075" y="793500"/>
            <a:ext cx="4165800" cy="42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</a:t>
            </a:r>
            <a:r>
              <a:rPr lang="en"/>
              <a:t>eference_angle = 0 (increment by 36 deg)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pole_angle = (pole_arc*2)/no_poles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θ</a:t>
            </a:r>
            <a:r>
              <a:rPr lang="en">
                <a:solidFill>
                  <a:schemeClr val="dk1"/>
                </a:solidFill>
              </a:rPr>
              <a:t> = </a:t>
            </a:r>
            <a:r>
              <a:rPr lang="en">
                <a:solidFill>
                  <a:schemeClr val="dk1"/>
                </a:solidFill>
              </a:rPr>
              <a:t>pole_angle/2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θ1 = reference_angle +θ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θ2 = reference_angle - θ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R1 = pole_length/(sin(θ)*2)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R2 = pole_length/(sin(θ)*2)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x1 = R1*sin(θ1)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y1 = R1*cos(θ1)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x2 = R2*sin(θ2)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y2 = R2*cos(θ2)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pole_distance = R1*cos(θ)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1" name="Google Shape;201;p30"/>
          <p:cNvSpPr txBox="1"/>
          <p:nvPr/>
        </p:nvSpPr>
        <p:spPr>
          <a:xfrm>
            <a:off x="1424025" y="3648625"/>
            <a:ext cx="4092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θ1</a:t>
            </a:r>
            <a:endParaRPr sz="900"/>
          </a:p>
        </p:txBody>
      </p:sp>
      <p:sp>
        <p:nvSpPr>
          <p:cNvPr id="202" name="Google Shape;202;p30"/>
          <p:cNvSpPr txBox="1"/>
          <p:nvPr/>
        </p:nvSpPr>
        <p:spPr>
          <a:xfrm>
            <a:off x="2098675" y="3648625"/>
            <a:ext cx="4605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θ2</a:t>
            </a:r>
            <a:endParaRPr sz="900"/>
          </a:p>
        </p:txBody>
      </p:sp>
      <p:sp>
        <p:nvSpPr>
          <p:cNvPr id="203" name="Google Shape;203;p30"/>
          <p:cNvSpPr txBox="1"/>
          <p:nvPr/>
        </p:nvSpPr>
        <p:spPr>
          <a:xfrm>
            <a:off x="3236300" y="2768975"/>
            <a:ext cx="460500" cy="3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R2</a:t>
            </a:r>
            <a:endParaRPr/>
          </a:p>
        </p:txBody>
      </p:sp>
      <p:cxnSp>
        <p:nvCxnSpPr>
          <p:cNvPr id="204" name="Google Shape;204;p30"/>
          <p:cNvCxnSpPr>
            <a:stCxn id="203" idx="1"/>
          </p:cNvCxnSpPr>
          <p:nvPr/>
        </p:nvCxnSpPr>
        <p:spPr>
          <a:xfrm flipH="1">
            <a:off x="2911700" y="2924825"/>
            <a:ext cx="324600" cy="2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1"/>
          <p:cNvSpPr txBox="1"/>
          <p:nvPr>
            <p:ph type="title"/>
          </p:nvPr>
        </p:nvSpPr>
        <p:spPr>
          <a:xfrm>
            <a:off x="212500" y="97850"/>
            <a:ext cx="2727600" cy="51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b="1" lang="en">
                <a:latin typeface="Oswald"/>
                <a:ea typeface="Oswald"/>
                <a:cs typeface="Oswald"/>
                <a:sym typeface="Oswald"/>
              </a:rPr>
              <a:t>Drawing Pole</a:t>
            </a:r>
            <a:endParaRPr b="1"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210" name="Google Shape;21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500" y="963525"/>
            <a:ext cx="3301525" cy="40666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1" name="Google Shape;211;p31"/>
          <p:cNvCxnSpPr/>
          <p:nvPr/>
        </p:nvCxnSpPr>
        <p:spPr>
          <a:xfrm>
            <a:off x="3382825" y="1013125"/>
            <a:ext cx="276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12" name="Google Shape;212;p31"/>
          <p:cNvCxnSpPr/>
          <p:nvPr/>
        </p:nvCxnSpPr>
        <p:spPr>
          <a:xfrm>
            <a:off x="3397000" y="1516150"/>
            <a:ext cx="255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13" name="Google Shape;213;p31"/>
          <p:cNvCxnSpPr/>
          <p:nvPr/>
        </p:nvCxnSpPr>
        <p:spPr>
          <a:xfrm>
            <a:off x="3644950" y="1034375"/>
            <a:ext cx="0" cy="47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14" name="Google Shape;214;p31"/>
          <p:cNvCxnSpPr/>
          <p:nvPr/>
        </p:nvCxnSpPr>
        <p:spPr>
          <a:xfrm flipH="1" rot="10800000">
            <a:off x="3666200" y="1239725"/>
            <a:ext cx="106200" cy="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5" name="Google Shape;215;p31"/>
          <p:cNvSpPr txBox="1"/>
          <p:nvPr/>
        </p:nvSpPr>
        <p:spPr>
          <a:xfrm>
            <a:off x="3793650" y="1043225"/>
            <a:ext cx="55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/>
              <a:t>Pole Width</a:t>
            </a:r>
            <a:endParaRPr b="1" sz="900"/>
          </a:p>
        </p:txBody>
      </p:sp>
      <p:sp>
        <p:nvSpPr>
          <p:cNvPr id="216" name="Google Shape;216;p31"/>
          <p:cNvSpPr txBox="1"/>
          <p:nvPr/>
        </p:nvSpPr>
        <p:spPr>
          <a:xfrm>
            <a:off x="3290725" y="1424050"/>
            <a:ext cx="51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x2,y2</a:t>
            </a:r>
            <a:endParaRPr sz="800"/>
          </a:p>
        </p:txBody>
      </p:sp>
      <p:sp>
        <p:nvSpPr>
          <p:cNvPr id="217" name="Google Shape;217;p31"/>
          <p:cNvSpPr txBox="1"/>
          <p:nvPr/>
        </p:nvSpPr>
        <p:spPr>
          <a:xfrm>
            <a:off x="3060525" y="674425"/>
            <a:ext cx="51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x3,y3</a:t>
            </a:r>
            <a:endParaRPr sz="800"/>
          </a:p>
        </p:txBody>
      </p:sp>
      <p:sp>
        <p:nvSpPr>
          <p:cNvPr id="218" name="Google Shape;218;p31"/>
          <p:cNvSpPr txBox="1"/>
          <p:nvPr/>
        </p:nvSpPr>
        <p:spPr>
          <a:xfrm>
            <a:off x="145275" y="759425"/>
            <a:ext cx="51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x4,y4</a:t>
            </a:r>
            <a:endParaRPr sz="800"/>
          </a:p>
        </p:txBody>
      </p:sp>
      <p:sp>
        <p:nvSpPr>
          <p:cNvPr id="219" name="Google Shape;219;p31"/>
          <p:cNvSpPr txBox="1"/>
          <p:nvPr/>
        </p:nvSpPr>
        <p:spPr>
          <a:xfrm>
            <a:off x="78050" y="1459475"/>
            <a:ext cx="51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x1,y1</a:t>
            </a:r>
            <a:endParaRPr sz="800"/>
          </a:p>
        </p:txBody>
      </p:sp>
      <p:sp>
        <p:nvSpPr>
          <p:cNvPr id="220" name="Google Shape;220;p31"/>
          <p:cNvSpPr/>
          <p:nvPr/>
        </p:nvSpPr>
        <p:spPr>
          <a:xfrm>
            <a:off x="1494850" y="3754309"/>
            <a:ext cx="736825" cy="269825"/>
          </a:xfrm>
          <a:custGeom>
            <a:rect b="b" l="l" r="r" t="t"/>
            <a:pathLst>
              <a:path extrusionOk="0" h="10793" w="29473">
                <a:moveTo>
                  <a:pt x="0" y="9659"/>
                </a:moveTo>
                <a:cubicBezTo>
                  <a:pt x="2551" y="8053"/>
                  <a:pt x="10391" y="-165"/>
                  <a:pt x="15303" y="24"/>
                </a:cubicBezTo>
                <a:cubicBezTo>
                  <a:pt x="20215" y="213"/>
                  <a:pt x="27111" y="8998"/>
                  <a:pt x="29473" y="10793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21" name="Google Shape;221;p31"/>
          <p:cNvSpPr txBox="1"/>
          <p:nvPr/>
        </p:nvSpPr>
        <p:spPr>
          <a:xfrm>
            <a:off x="1416950" y="3534675"/>
            <a:ext cx="4092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θ4</a:t>
            </a:r>
            <a:endParaRPr sz="900"/>
          </a:p>
        </p:txBody>
      </p:sp>
      <p:sp>
        <p:nvSpPr>
          <p:cNvPr id="222" name="Google Shape;222;p31"/>
          <p:cNvSpPr txBox="1"/>
          <p:nvPr/>
        </p:nvSpPr>
        <p:spPr>
          <a:xfrm>
            <a:off x="1966075" y="3534675"/>
            <a:ext cx="4092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θ3</a:t>
            </a:r>
            <a:endParaRPr sz="900"/>
          </a:p>
        </p:txBody>
      </p:sp>
      <p:cxnSp>
        <p:nvCxnSpPr>
          <p:cNvPr id="223" name="Google Shape;223;p31"/>
          <p:cNvCxnSpPr/>
          <p:nvPr/>
        </p:nvCxnSpPr>
        <p:spPr>
          <a:xfrm rot="10800000">
            <a:off x="587988" y="836000"/>
            <a:ext cx="658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4" name="Google Shape;224;p31"/>
          <p:cNvCxnSpPr/>
          <p:nvPr/>
        </p:nvCxnSpPr>
        <p:spPr>
          <a:xfrm flipH="1" rot="10800000">
            <a:off x="2248709" y="832400"/>
            <a:ext cx="875400" cy="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5" name="Google Shape;225;p31"/>
          <p:cNvSpPr txBox="1"/>
          <p:nvPr/>
        </p:nvSpPr>
        <p:spPr>
          <a:xfrm>
            <a:off x="1246199" y="682100"/>
            <a:ext cx="1002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Pole Length</a:t>
            </a:r>
            <a:endParaRPr b="1" sz="1100"/>
          </a:p>
        </p:txBody>
      </p:sp>
      <p:sp>
        <p:nvSpPr>
          <p:cNvPr id="226" name="Google Shape;226;p31"/>
          <p:cNvSpPr txBox="1"/>
          <p:nvPr/>
        </p:nvSpPr>
        <p:spPr>
          <a:xfrm>
            <a:off x="5866150" y="148775"/>
            <a:ext cx="284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Find (x3,y3) and (x4,y4):</a:t>
            </a:r>
            <a:endParaRPr/>
          </a:p>
        </p:txBody>
      </p:sp>
      <p:sp>
        <p:nvSpPr>
          <p:cNvPr id="227" name="Google Shape;227;p31"/>
          <p:cNvSpPr txBox="1"/>
          <p:nvPr/>
        </p:nvSpPr>
        <p:spPr>
          <a:xfrm>
            <a:off x="4690075" y="793500"/>
            <a:ext cx="4165800" cy="42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reference_angle = 0 (increment by 36 deg)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</a:t>
            </a:r>
            <a:r>
              <a:rPr lang="en"/>
              <a:t> = pole_distance+pole_width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θ = </a:t>
            </a:r>
            <a:r>
              <a:rPr lang="en">
                <a:solidFill>
                  <a:schemeClr val="dk1"/>
                </a:solidFill>
              </a:rPr>
              <a:t>taninv(pole_length/(2*h))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θ3 = reference_angle -θ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θ4 = reference_angle + θ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R3 = pole_length/(sin(θ)*2)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R4 = pole_length/(sin(θ)*2)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x3 = R3*sin(θ3)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y3 = R3*cos(θ3)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x4 = R4*sin(θ4)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y4 = R4*cos(θ4)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228" name="Google Shape;228;p31"/>
          <p:cNvCxnSpPr/>
          <p:nvPr/>
        </p:nvCxnSpPr>
        <p:spPr>
          <a:xfrm>
            <a:off x="1880900" y="1771175"/>
            <a:ext cx="191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9" name="Google Shape;229;p31"/>
          <p:cNvSpPr txBox="1"/>
          <p:nvPr/>
        </p:nvSpPr>
        <p:spPr>
          <a:xfrm>
            <a:off x="2131175" y="1601825"/>
            <a:ext cx="1027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Pole Distance</a:t>
            </a:r>
            <a:endParaRPr b="1" sz="1000"/>
          </a:p>
        </p:txBody>
      </p:sp>
      <p:sp>
        <p:nvSpPr>
          <p:cNvPr id="230" name="Google Shape;230;p31"/>
          <p:cNvSpPr txBox="1"/>
          <p:nvPr/>
        </p:nvSpPr>
        <p:spPr>
          <a:xfrm>
            <a:off x="315400" y="2800775"/>
            <a:ext cx="460500" cy="3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R4</a:t>
            </a:r>
            <a:endParaRPr/>
          </a:p>
        </p:txBody>
      </p:sp>
      <p:cxnSp>
        <p:nvCxnSpPr>
          <p:cNvPr id="231" name="Google Shape;231;p31"/>
          <p:cNvCxnSpPr/>
          <p:nvPr/>
        </p:nvCxnSpPr>
        <p:spPr>
          <a:xfrm flipH="1" rot="10800000">
            <a:off x="708450" y="2992100"/>
            <a:ext cx="269100" cy="1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2" name="Google Shape;232;p31"/>
          <p:cNvSpPr txBox="1"/>
          <p:nvPr/>
        </p:nvSpPr>
        <p:spPr>
          <a:xfrm>
            <a:off x="2967100" y="2800775"/>
            <a:ext cx="460500" cy="3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R3</a:t>
            </a:r>
            <a:endParaRPr/>
          </a:p>
        </p:txBody>
      </p:sp>
      <p:cxnSp>
        <p:nvCxnSpPr>
          <p:cNvPr id="233" name="Google Shape;233;p31"/>
          <p:cNvCxnSpPr>
            <a:stCxn id="232" idx="1"/>
          </p:cNvCxnSpPr>
          <p:nvPr/>
        </p:nvCxnSpPr>
        <p:spPr>
          <a:xfrm flipH="1">
            <a:off x="2642500" y="2956625"/>
            <a:ext cx="324600" cy="2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4" name="Google Shape;234;p31"/>
          <p:cNvSpPr txBox="1"/>
          <p:nvPr/>
        </p:nvSpPr>
        <p:spPr>
          <a:xfrm>
            <a:off x="1721975" y="4923375"/>
            <a:ext cx="4092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0,0</a:t>
            </a:r>
            <a:endParaRPr sz="8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2"/>
          <p:cNvSpPr txBox="1"/>
          <p:nvPr>
            <p:ph type="title"/>
          </p:nvPr>
        </p:nvSpPr>
        <p:spPr>
          <a:xfrm>
            <a:off x="311700" y="1616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swald"/>
                <a:ea typeface="Oswald"/>
                <a:cs typeface="Oswald"/>
                <a:sym typeface="Oswald"/>
              </a:rPr>
              <a:t>Drawing The Stator</a:t>
            </a:r>
            <a:endParaRPr b="1"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240" name="Google Shape;240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07038" y="879665"/>
            <a:ext cx="4329919" cy="4104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3"/>
          <p:cNvSpPr txBox="1"/>
          <p:nvPr>
            <p:ph type="title"/>
          </p:nvPr>
        </p:nvSpPr>
        <p:spPr>
          <a:xfrm>
            <a:off x="311700" y="915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swald"/>
                <a:ea typeface="Oswald"/>
                <a:cs typeface="Oswald"/>
                <a:sym typeface="Oswald"/>
              </a:rPr>
              <a:t>Stator Segment</a:t>
            </a:r>
            <a:endParaRPr b="1"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246" name="Google Shape;246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60200" y="664200"/>
            <a:ext cx="4526326" cy="4537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4"/>
          <p:cNvSpPr txBox="1"/>
          <p:nvPr>
            <p:ph type="title"/>
          </p:nvPr>
        </p:nvSpPr>
        <p:spPr>
          <a:xfrm>
            <a:off x="325875" y="48275"/>
            <a:ext cx="2841000" cy="4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swald"/>
                <a:ea typeface="Oswald"/>
                <a:cs typeface="Oswald"/>
                <a:sym typeface="Oswald"/>
              </a:rPr>
              <a:t>Tooth Arc</a:t>
            </a:r>
            <a:endParaRPr b="1"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252" name="Google Shape;252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2850" y="864325"/>
            <a:ext cx="3326175" cy="4187076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34"/>
          <p:cNvSpPr/>
          <p:nvPr/>
        </p:nvSpPr>
        <p:spPr>
          <a:xfrm>
            <a:off x="1594050" y="3336605"/>
            <a:ext cx="878525" cy="425375"/>
          </a:xfrm>
          <a:custGeom>
            <a:rect b="b" l="l" r="r" t="t"/>
            <a:pathLst>
              <a:path extrusionOk="0" h="17015" w="35141">
                <a:moveTo>
                  <a:pt x="0" y="17015"/>
                </a:moveTo>
                <a:cubicBezTo>
                  <a:pt x="1370" y="14937"/>
                  <a:pt x="5196" y="7380"/>
                  <a:pt x="8219" y="4546"/>
                </a:cubicBezTo>
                <a:cubicBezTo>
                  <a:pt x="11242" y="1712"/>
                  <a:pt x="14500" y="59"/>
                  <a:pt x="18137" y="12"/>
                </a:cubicBezTo>
                <a:cubicBezTo>
                  <a:pt x="21774" y="-35"/>
                  <a:pt x="27206" y="1949"/>
                  <a:pt x="30040" y="4263"/>
                </a:cubicBezTo>
                <a:cubicBezTo>
                  <a:pt x="32874" y="6577"/>
                  <a:pt x="34291" y="12292"/>
                  <a:pt x="35141" y="13898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54" name="Google Shape;254;p34"/>
          <p:cNvSpPr txBox="1"/>
          <p:nvPr/>
        </p:nvSpPr>
        <p:spPr>
          <a:xfrm>
            <a:off x="577550" y="2744100"/>
            <a:ext cx="460500" cy="3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</a:t>
            </a:r>
            <a:endParaRPr/>
          </a:p>
        </p:txBody>
      </p:sp>
      <p:cxnSp>
        <p:nvCxnSpPr>
          <p:cNvPr id="255" name="Google Shape;255;p34"/>
          <p:cNvCxnSpPr/>
          <p:nvPr/>
        </p:nvCxnSpPr>
        <p:spPr>
          <a:xfrm flipH="1" rot="10800000">
            <a:off x="970600" y="2935425"/>
            <a:ext cx="269100" cy="1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6" name="Google Shape;256;p34"/>
          <p:cNvSpPr txBox="1"/>
          <p:nvPr/>
        </p:nvSpPr>
        <p:spPr>
          <a:xfrm>
            <a:off x="219725" y="998975"/>
            <a:ext cx="51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x1,y1</a:t>
            </a:r>
            <a:endParaRPr sz="800"/>
          </a:p>
        </p:txBody>
      </p:sp>
      <p:sp>
        <p:nvSpPr>
          <p:cNvPr id="257" name="Google Shape;257;p34"/>
          <p:cNvSpPr txBox="1"/>
          <p:nvPr/>
        </p:nvSpPr>
        <p:spPr>
          <a:xfrm>
            <a:off x="3397325" y="956450"/>
            <a:ext cx="51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x2,y2</a:t>
            </a:r>
            <a:endParaRPr sz="800"/>
          </a:p>
        </p:txBody>
      </p:sp>
      <p:sp>
        <p:nvSpPr>
          <p:cNvPr id="258" name="Google Shape;258;p34"/>
          <p:cNvSpPr txBox="1"/>
          <p:nvPr/>
        </p:nvSpPr>
        <p:spPr>
          <a:xfrm>
            <a:off x="1465725" y="3055800"/>
            <a:ext cx="4092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θ1</a:t>
            </a:r>
            <a:endParaRPr sz="900"/>
          </a:p>
        </p:txBody>
      </p:sp>
      <p:sp>
        <p:nvSpPr>
          <p:cNvPr id="259" name="Google Shape;259;p34"/>
          <p:cNvSpPr txBox="1"/>
          <p:nvPr/>
        </p:nvSpPr>
        <p:spPr>
          <a:xfrm>
            <a:off x="2140375" y="3055800"/>
            <a:ext cx="4605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θ2</a:t>
            </a:r>
            <a:endParaRPr sz="900"/>
          </a:p>
        </p:txBody>
      </p:sp>
      <p:sp>
        <p:nvSpPr>
          <p:cNvPr id="260" name="Google Shape;260;p34"/>
          <p:cNvSpPr txBox="1"/>
          <p:nvPr/>
        </p:nvSpPr>
        <p:spPr>
          <a:xfrm>
            <a:off x="1874937" y="4873800"/>
            <a:ext cx="4092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0,0</a:t>
            </a:r>
            <a:endParaRPr sz="800"/>
          </a:p>
        </p:txBody>
      </p:sp>
      <p:sp>
        <p:nvSpPr>
          <p:cNvPr id="261" name="Google Shape;261;p34"/>
          <p:cNvSpPr txBox="1"/>
          <p:nvPr/>
        </p:nvSpPr>
        <p:spPr>
          <a:xfrm>
            <a:off x="1578224" y="644975"/>
            <a:ext cx="1002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Tooth Arc</a:t>
            </a:r>
            <a:endParaRPr b="1" sz="1100"/>
          </a:p>
        </p:txBody>
      </p:sp>
      <p:sp>
        <p:nvSpPr>
          <p:cNvPr id="262" name="Google Shape;262;p34"/>
          <p:cNvSpPr txBox="1"/>
          <p:nvPr/>
        </p:nvSpPr>
        <p:spPr>
          <a:xfrm>
            <a:off x="5866150" y="148775"/>
            <a:ext cx="284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Find (x1,y1) and (x2,y2):</a:t>
            </a:r>
            <a:endParaRPr/>
          </a:p>
        </p:txBody>
      </p:sp>
      <p:sp>
        <p:nvSpPr>
          <p:cNvPr id="263" name="Google Shape;263;p34"/>
          <p:cNvSpPr txBox="1"/>
          <p:nvPr/>
        </p:nvSpPr>
        <p:spPr>
          <a:xfrm>
            <a:off x="3990425" y="580950"/>
            <a:ext cx="4865700" cy="44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</a:t>
            </a:r>
            <a:r>
              <a:rPr lang="en"/>
              <a:t>eference_angle =0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 = Stator Inner Radius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stator_opening_total = </a:t>
            </a:r>
            <a:r>
              <a:rPr lang="en">
                <a:solidFill>
                  <a:schemeClr val="dk1"/>
                </a:solidFill>
              </a:rPr>
              <a:t>2𝝅R</a:t>
            </a:r>
            <a:r>
              <a:rPr lang="en"/>
              <a:t>- slot_opening*no_slots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tooth_arc_s = stator_opening_total/no_slots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tooth_arc_theta = (tooth_arc_s*2)/stator_id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θ</a:t>
            </a:r>
            <a:r>
              <a:rPr lang="en">
                <a:solidFill>
                  <a:schemeClr val="dk1"/>
                </a:solidFill>
              </a:rPr>
              <a:t> = tooth_arc_theta*180/</a:t>
            </a:r>
            <a:r>
              <a:rPr lang="en">
                <a:solidFill>
                  <a:schemeClr val="dk1"/>
                </a:solidFill>
              </a:rPr>
              <a:t>𝝅/2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θ1 = reference_angle + θ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θ2 = reference_angle - θ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Draw arc using (R,θ1,θ2 and (0,0))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x1 = R*sin(θ1)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y1 = R*cos(θ1)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x2 = R*sin(θ2)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y2 = R*cos(θ2)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264" name="Google Shape;264;p34"/>
          <p:cNvCxnSpPr/>
          <p:nvPr/>
        </p:nvCxnSpPr>
        <p:spPr>
          <a:xfrm>
            <a:off x="2036750" y="1331525"/>
            <a:ext cx="191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5" name="Google Shape;265;p34"/>
          <p:cNvSpPr txBox="1"/>
          <p:nvPr/>
        </p:nvSpPr>
        <p:spPr>
          <a:xfrm>
            <a:off x="2287025" y="1162175"/>
            <a:ext cx="1027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r</a:t>
            </a:r>
            <a:r>
              <a:rPr lang="en" sz="1000"/>
              <a:t>eference angle</a:t>
            </a:r>
            <a:endParaRPr sz="10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5"/>
          <p:cNvSpPr txBox="1"/>
          <p:nvPr>
            <p:ph type="title"/>
          </p:nvPr>
        </p:nvSpPr>
        <p:spPr>
          <a:xfrm>
            <a:off x="311700" y="126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swald"/>
                <a:ea typeface="Oswald"/>
                <a:cs typeface="Oswald"/>
                <a:sym typeface="Oswald"/>
              </a:rPr>
              <a:t>Draw Tooth Tip</a:t>
            </a:r>
            <a:endParaRPr b="1"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271" name="Google Shape;271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8025" y="899925"/>
            <a:ext cx="4307938" cy="413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6"/>
          <p:cNvSpPr txBox="1"/>
          <p:nvPr>
            <p:ph type="title"/>
          </p:nvPr>
        </p:nvSpPr>
        <p:spPr>
          <a:xfrm>
            <a:off x="311700" y="260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swald"/>
                <a:ea typeface="Oswald"/>
                <a:cs typeface="Oswald"/>
                <a:sym typeface="Oswald"/>
              </a:rPr>
              <a:t>Draw Toothbase</a:t>
            </a:r>
            <a:endParaRPr b="1"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277" name="Google Shape;27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79325" y="1024800"/>
            <a:ext cx="4256500" cy="407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7"/>
          <p:cNvSpPr txBox="1"/>
          <p:nvPr>
            <p:ph type="title"/>
          </p:nvPr>
        </p:nvSpPr>
        <p:spPr>
          <a:xfrm>
            <a:off x="311700" y="2700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swald"/>
                <a:ea typeface="Oswald"/>
                <a:cs typeface="Oswald"/>
                <a:sym typeface="Oswald"/>
              </a:rPr>
              <a:t>Connect All the Teeth</a:t>
            </a:r>
            <a:endParaRPr b="1"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283" name="Google Shape;283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0775" y="1063850"/>
            <a:ext cx="4096405" cy="3820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35900" y="1001825"/>
            <a:ext cx="4096400" cy="388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8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swald"/>
                <a:ea typeface="Oswald"/>
                <a:cs typeface="Oswald"/>
                <a:sym typeface="Oswald"/>
              </a:rPr>
              <a:t>Winding Diagram</a:t>
            </a:r>
            <a:endParaRPr b="1"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290" name="Google Shape;290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88" y="837150"/>
            <a:ext cx="4342032" cy="4153949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38"/>
          <p:cNvSpPr txBox="1"/>
          <p:nvPr/>
        </p:nvSpPr>
        <p:spPr>
          <a:xfrm>
            <a:off x="5278200" y="970600"/>
            <a:ext cx="3554100" cy="3513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/>
              <a:t>Legend </a:t>
            </a:r>
            <a:endParaRPr u="sng"/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/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/>
              <a:t>		</a:t>
            </a:r>
            <a:r>
              <a:rPr lang="en"/>
              <a:t>U - Phase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	</a:t>
            </a:r>
            <a:r>
              <a:rPr lang="en">
                <a:solidFill>
                  <a:schemeClr val="dk1"/>
                </a:solidFill>
              </a:rPr>
              <a:t>V</a:t>
            </a:r>
            <a:r>
              <a:rPr lang="en">
                <a:solidFill>
                  <a:schemeClr val="dk1"/>
                </a:solidFill>
              </a:rPr>
              <a:t> - Phase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		W - Phase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92" name="Google Shape;292;p38"/>
          <p:cNvSpPr/>
          <p:nvPr/>
        </p:nvSpPr>
        <p:spPr>
          <a:xfrm>
            <a:off x="5511900" y="2571750"/>
            <a:ext cx="354300" cy="276300"/>
          </a:xfrm>
          <a:prstGeom prst="rect">
            <a:avLst/>
          </a:prstGeom>
          <a:solidFill>
            <a:srgbClr val="FFC999"/>
          </a:solidFill>
          <a:ln cap="flat" cmpd="sng" w="9525">
            <a:solidFill>
              <a:srgbClr val="FF6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8"/>
          <p:cNvSpPr/>
          <p:nvPr/>
        </p:nvSpPr>
        <p:spPr>
          <a:xfrm>
            <a:off x="5511900" y="1679175"/>
            <a:ext cx="354300" cy="276300"/>
          </a:xfrm>
          <a:prstGeom prst="rect">
            <a:avLst/>
          </a:prstGeom>
          <a:solidFill>
            <a:srgbClr val="94BEFF"/>
          </a:solidFill>
          <a:ln cap="flat" cmpd="sng" w="9525">
            <a:solidFill>
              <a:srgbClr val="0033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38"/>
          <p:cNvSpPr/>
          <p:nvPr/>
        </p:nvSpPr>
        <p:spPr>
          <a:xfrm>
            <a:off x="5511900" y="3595650"/>
            <a:ext cx="354300" cy="276300"/>
          </a:xfrm>
          <a:prstGeom prst="rect">
            <a:avLst/>
          </a:prstGeom>
          <a:solidFill>
            <a:srgbClr val="A9FFA9"/>
          </a:solidFill>
          <a:ln cap="flat" cmpd="sng" w="9525">
            <a:solidFill>
              <a:srgbClr val="008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9"/>
          <p:cNvSpPr txBox="1"/>
          <p:nvPr>
            <p:ph type="title"/>
          </p:nvPr>
        </p:nvSpPr>
        <p:spPr>
          <a:xfrm>
            <a:off x="311700" y="103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swald"/>
                <a:ea typeface="Oswald"/>
                <a:cs typeface="Oswald"/>
                <a:sym typeface="Oswald"/>
              </a:rPr>
              <a:t>Simulating in FEMM: Adding Material And Winding</a:t>
            </a:r>
            <a:endParaRPr b="1"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300" name="Google Shape;300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1275" y="845900"/>
            <a:ext cx="4926750" cy="414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0"/>
          <p:cNvSpPr txBox="1"/>
          <p:nvPr>
            <p:ph type="title"/>
          </p:nvPr>
        </p:nvSpPr>
        <p:spPr>
          <a:xfrm>
            <a:off x="311700" y="2041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swald"/>
                <a:ea typeface="Oswald"/>
                <a:cs typeface="Oswald"/>
                <a:sym typeface="Oswald"/>
              </a:rPr>
              <a:t>Simulation Results: Boundary &amp; Meshing</a:t>
            </a:r>
            <a:endParaRPr b="1"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306" name="Google Shape;306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283050"/>
            <a:ext cx="3970899" cy="3814326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07" name="Google Shape;307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88892" y="1283050"/>
            <a:ext cx="4043408" cy="38143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08" name="Google Shape;308;p40"/>
          <p:cNvSpPr txBox="1"/>
          <p:nvPr/>
        </p:nvSpPr>
        <p:spPr>
          <a:xfrm>
            <a:off x="256700" y="882850"/>
            <a:ext cx="4080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Dirichlet Boundary</a:t>
            </a:r>
            <a:endParaRPr b="1"/>
          </a:p>
        </p:txBody>
      </p:sp>
      <p:sp>
        <p:nvSpPr>
          <p:cNvPr id="309" name="Google Shape;309;p40"/>
          <p:cNvSpPr txBox="1"/>
          <p:nvPr/>
        </p:nvSpPr>
        <p:spPr>
          <a:xfrm>
            <a:off x="4770150" y="936075"/>
            <a:ext cx="4080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Meshing </a:t>
            </a:r>
            <a:endParaRPr b="1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1"/>
          <p:cNvSpPr txBox="1"/>
          <p:nvPr>
            <p:ph type="title"/>
          </p:nvPr>
        </p:nvSpPr>
        <p:spPr>
          <a:xfrm>
            <a:off x="311700" y="211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swald"/>
                <a:ea typeface="Oswald"/>
                <a:cs typeface="Oswald"/>
                <a:sym typeface="Oswald"/>
              </a:rPr>
              <a:t>Simulation Results</a:t>
            </a:r>
            <a:endParaRPr b="1"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315" name="Google Shape;315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275" y="1214125"/>
            <a:ext cx="4346400" cy="38620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16" name="Google Shape;316;p41"/>
          <p:cNvSpPr txBox="1"/>
          <p:nvPr/>
        </p:nvSpPr>
        <p:spPr>
          <a:xfrm>
            <a:off x="60275" y="857250"/>
            <a:ext cx="434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Magnetic Flux Density Plot</a:t>
            </a:r>
            <a:endParaRPr b="1"/>
          </a:p>
        </p:txBody>
      </p:sp>
      <p:pic>
        <p:nvPicPr>
          <p:cNvPr id="317" name="Google Shape;317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9100" y="1214125"/>
            <a:ext cx="4546276" cy="38620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18" name="Google Shape;318;p41"/>
          <p:cNvSpPr txBox="1"/>
          <p:nvPr/>
        </p:nvSpPr>
        <p:spPr>
          <a:xfrm>
            <a:off x="4629038" y="783950"/>
            <a:ext cx="434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Air Gap Flux Plot</a:t>
            </a:r>
            <a:endParaRPr b="1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2"/>
          <p:cNvSpPr txBox="1"/>
          <p:nvPr>
            <p:ph type="title"/>
          </p:nvPr>
        </p:nvSpPr>
        <p:spPr>
          <a:xfrm>
            <a:off x="311700" y="187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320">
                <a:latin typeface="Oswald"/>
                <a:ea typeface="Oswald"/>
                <a:cs typeface="Oswald"/>
                <a:sym typeface="Oswald"/>
              </a:rPr>
              <a:t>THANK YOU</a:t>
            </a:r>
            <a:endParaRPr b="1" sz="3320"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